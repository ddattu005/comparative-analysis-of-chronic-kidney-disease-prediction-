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8" r:id="rId4"/>
    <p:sldId id="267" r:id="rId5"/>
    <p:sldId id="262" r:id="rId6"/>
    <p:sldId id="276" r:id="rId7"/>
    <p:sldId id="273" r:id="rId8"/>
    <p:sldId id="274" r:id="rId9"/>
    <p:sldId id="275" r:id="rId10"/>
    <p:sldId id="277" r:id="rId11"/>
    <p:sldId id="269" r:id="rId12"/>
    <p:sldId id="263" r:id="rId13"/>
    <p:sldId id="270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BBEB00-8B63-49FE-AA80-3D7788A41ADE}">
          <p14:sldIdLst>
            <p14:sldId id="256"/>
            <p14:sldId id="258"/>
            <p14:sldId id="268"/>
            <p14:sldId id="267"/>
            <p14:sldId id="262"/>
          </p14:sldIdLst>
        </p14:section>
        <p14:section name="Untitled Section" id="{4BEAF753-A3AD-4BD2-B388-72E34E0C7E29}">
          <p14:sldIdLst>
            <p14:sldId id="276"/>
            <p14:sldId id="273"/>
            <p14:sldId id="274"/>
            <p14:sldId id="275"/>
            <p14:sldId id="277"/>
            <p14:sldId id="269"/>
          </p14:sldIdLst>
        </p14:section>
        <p14:section name="Untitled Section" id="{91FC452E-108C-43C9-BCBB-706C7C05F910}">
          <p14:sldIdLst>
            <p14:sldId id="263"/>
            <p14:sldId id="270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59" autoAdjust="0"/>
  </p:normalViewPr>
  <p:slideViewPr>
    <p:cSldViewPr snapToGrid="0">
      <p:cViewPr varScale="1">
        <p:scale>
          <a:sx n="123" d="100"/>
          <a:sy n="123" d="100"/>
        </p:scale>
        <p:origin x="9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8698D-155D-4751-9058-7A62D3B0550E}" type="datetimeFigureOut">
              <a:rPr lang="en-IN" smtClean="0"/>
              <a:t>09-10-2026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7E497-E028-46BF-A914-38D15842F6B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72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4136C-8498-4910-BECD-608EA31F765C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EC61-0AC5-470F-ABB5-C3AA62A1C52E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A0FC-AF95-454C-A4E6-937690C7EEE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CB801-3F43-4133-A3C0-D4144018E6B1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7B492-E375-4B59-88C2-309180D6D3A8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5926-F5FB-4929-9079-D6BFC2455E47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5EF2E-826E-4AFA-8C6E-0683D441BF01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EB161-2F5A-4DA4-A5FF-36159DD7F0C9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4E2DDD8-2A2E-4022-B690-427CB3FADA57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2209E6-FF54-405E-B76C-59458CC979B7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0BF1-2F77-43EA-8CA7-6BE31BB7C7CB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CD21-F550-461C-95E2-E7C7A5F4C99A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C8F401B-A9E7-4044-98BF-0EC35DC870BD}" type="datetime1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CHRONIC KIDNEY DISEASE PREDICTION USING MACHINE LEARNING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tree.DecisionTreeClassifier.html" TargetMode="External"/><Relationship Id="rId2" Type="http://schemas.openxmlformats.org/officeDocument/2006/relationships/hyperlink" Target="https://github.com/ResidentMario/missingno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kaggle.com/datasets/mansoordaku/ckdiseas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15064-C22C-D2B5-6A17-4C1552500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" y="1681032"/>
            <a:ext cx="11976846" cy="284579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  <a:t>Comparative Analysis of Chronic Kidney </a:t>
            </a:r>
            <a:b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</a:br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  <a:t>Disease Prediction</a:t>
            </a:r>
            <a:br>
              <a:rPr lang="en-IN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</a:br>
            <a:r>
              <a:rPr lang="en-IN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  <a:t>Batch-08</a:t>
            </a:r>
            <a:br>
              <a:rPr lang="en-IN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</a:br>
            <a:endParaRPr lang="en-IN" sz="4000" b="1" dirty="0">
              <a:solidFill>
                <a:schemeClr val="accent5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63F94-383B-BCE8-D012-17CF09E53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872" y="4575124"/>
            <a:ext cx="10058400" cy="1143000"/>
          </a:xfrm>
        </p:spPr>
        <p:txBody>
          <a:bodyPr/>
          <a:lstStyle/>
          <a:p>
            <a:r>
              <a:rPr lang="en-IN" sz="1800" dirty="0">
                <a:solidFill>
                  <a:schemeClr val="tx1"/>
                </a:solidFill>
                <a:latin typeface="+mn-lt"/>
              </a:rPr>
              <a:t>GUIDE : MS.PRIYANKA CHAUMWAL</a:t>
            </a:r>
            <a:r>
              <a:rPr lang="en-IN" dirty="0"/>
              <a:t>					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14DE0-7346-DCAB-4CF5-7EE31C0F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DATA ANALYTICS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99C0E-8AD7-A022-143D-4D788947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F8F11-E07E-7843-FA96-7BBB0F9859C1}"/>
              </a:ext>
            </a:extLst>
          </p:cNvPr>
          <p:cNvSpPr txBox="1"/>
          <p:nvPr/>
        </p:nvSpPr>
        <p:spPr>
          <a:xfrm>
            <a:off x="1097665" y="1112706"/>
            <a:ext cx="9838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dirty="0"/>
              <a:t>App development-Data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6A0C6-3AC5-F98C-3B53-FA5BE4933C8D}"/>
              </a:ext>
            </a:extLst>
          </p:cNvPr>
          <p:cNvSpPr txBox="1"/>
          <p:nvPr/>
        </p:nvSpPr>
        <p:spPr>
          <a:xfrm>
            <a:off x="7673006" y="4478527"/>
            <a:ext cx="463264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VAMSHI REDDY                   2211CS030028</a:t>
            </a:r>
          </a:p>
          <a:p>
            <a:pPr>
              <a:lnSpc>
                <a:spcPct val="150000"/>
              </a:lnSpc>
            </a:pPr>
            <a:r>
              <a:rPr lang="en-IN" dirty="0"/>
              <a:t>DATTU RAGHUNANDHAN 2211CS030063</a:t>
            </a:r>
          </a:p>
          <a:p>
            <a:pPr>
              <a:lnSpc>
                <a:spcPct val="150000"/>
              </a:lnSpc>
            </a:pPr>
            <a:r>
              <a:rPr lang="en-IN" dirty="0"/>
              <a:t>PAVAN TEJA	                    2211CS030083</a:t>
            </a:r>
          </a:p>
          <a:p>
            <a:pPr>
              <a:lnSpc>
                <a:spcPct val="150000"/>
              </a:lnSpc>
            </a:pPr>
            <a:r>
              <a:rPr lang="en-IN" dirty="0"/>
              <a:t>GIRIVARDHAN                     2211CS030089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2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E47A-E11B-119D-91DB-21BA441F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39" y="343279"/>
            <a:ext cx="10058400" cy="145075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  <a:cs typeface="Times New Roman" panose="02020603050405020304" pitchFamily="18" charset="0"/>
              </a:rPr>
              <a:t>INTRODUCTION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067F8-90A8-2BF5-0619-A81F708B1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38449"/>
            <a:ext cx="10058400" cy="4023360"/>
          </a:xfrm>
        </p:spPr>
        <p:txBody>
          <a:bodyPr/>
          <a:lstStyle/>
          <a:p>
            <a:pPr marL="0" indent="0" algn="just">
              <a:buClr>
                <a:schemeClr val="tx1"/>
              </a:buClr>
              <a:buNone/>
            </a:pPr>
            <a:r>
              <a:rPr lang="en-US" dirty="0"/>
              <a:t>Recent research has shown a worrying 17% increase in CKD cases worldwide, affecting 1 in 10 people. Detecting CKD early is crucial, as it allows for better treatment and control through medication. This project aims to create a simple predictive model using relevant factors to estimate the likelihood of chronic kidney disease. By doing so, we aim to identify the key factors that play a role in assessing CKD risk. The main goal is to contribute meaningfully to healthcare by using a combination of straightforward methods like logistic regression, decision tree classifier, and k-nearest neighbors. This comprehensive approach aims to address the challenge of early CKD detection, providing healthcare professionals with useful insights to intervene promptly and improve patient outcomes.</a:t>
            </a:r>
            <a:r>
              <a:rPr lang="en-IN" dirty="0"/>
              <a:t>Kidney Disease is cancer arising from the cervix. It Arises due to the abnormal growth  of cells and spreads to other parts of the body. We can use </a:t>
            </a:r>
            <a:r>
              <a:rPr lang="en-US" dirty="0">
                <a:solidFill>
                  <a:schemeClr val="tx1"/>
                </a:solidFill>
              </a:rPr>
              <a:t>data analytics </a:t>
            </a:r>
            <a:r>
              <a:rPr lang="en-IN" dirty="0"/>
              <a:t>techniques to predict if a person as cancer or not.Different factors such as smoking, Pregnancies, habits etc can be used to predict cancer.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65DDB-18D8-226C-4856-9930D9BC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7BCF4-9248-78DB-697E-59AB71B4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A0FC-AF95-454C-A4E6-937690C7EEE5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00109-BAAA-DBAC-CEF8-1EDB1A18A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667" y="188806"/>
            <a:ext cx="2857500" cy="16002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966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8678" y="852408"/>
            <a:ext cx="10996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 OF PROJECT</a:t>
            </a:r>
            <a:endParaRPr lang="en-IN" sz="32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36169" y="1356102"/>
            <a:ext cx="10996048" cy="23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1925" y="1743560"/>
            <a:ext cx="11104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objective of the project is create model which can determine chances of the chronic kidney disease with the help of the suitable parameters.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Also, to find which are the parameters are important to check the chances of the chronic kidney disease.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This project will help for early detection of the chronic kidney disease.</a:t>
            </a:r>
          </a:p>
          <a:p>
            <a:pPr algn="just"/>
            <a:endParaRPr lang="en-US" sz="200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D1DE6F9-8FB3-EB20-E4B3-D162C92A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2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8678" y="852408"/>
            <a:ext cx="10996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  <a:endParaRPr lang="en-IN" sz="32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36169" y="1356102"/>
            <a:ext cx="10996048" cy="23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0338" y="1519442"/>
            <a:ext cx="1110453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DATA COLLECTION</a:t>
            </a:r>
          </a:p>
          <a:p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IMPORTING REQUIRED LIBRAYS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DATA LOADING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DATA PREPROCESSING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DATA VISUALIZATION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TRAIN TEST SPLIT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20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2000" dirty="0"/>
              <a:t>PREDICTION AND MODEL EVALUTION</a:t>
            </a:r>
            <a:endParaRPr lang="en-IN" sz="200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A0802E7-606C-6BB5-1191-07AB32BA9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Columns in our dataset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1410" y="1596325"/>
            <a:ext cx="109108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IN" sz="2000" dirty="0"/>
              <a:t>id (int64): Unique identifier for each record, age (float64): Age of the individual,bp (float64): Blood pressure,sg (float64): Specific </a:t>
            </a:r>
            <a:r>
              <a:rPr lang="en-IN" sz="2000" dirty="0" err="1"/>
              <a:t>gravity,al</a:t>
            </a:r>
            <a:r>
              <a:rPr lang="en-IN" sz="2000" dirty="0"/>
              <a:t> (float64): Albumin, </a:t>
            </a:r>
            <a:r>
              <a:rPr lang="en-IN" sz="2000" dirty="0" err="1"/>
              <a:t>su</a:t>
            </a:r>
            <a:r>
              <a:rPr lang="en-IN" sz="2000" dirty="0"/>
              <a:t> (float64): Sugar,bgr (float64): Blood glucose random,bu (float64): Blood </a:t>
            </a:r>
            <a:r>
              <a:rPr lang="en-IN" sz="2000" dirty="0" err="1"/>
              <a:t>urea,sc</a:t>
            </a:r>
            <a:r>
              <a:rPr lang="en-IN" sz="2000" dirty="0"/>
              <a:t> (float64): Serum creatininesod (float64): Sodium,pot (float64): Potassium,hemo (float64): Hemoglobin,rbc (object): Red blood </a:t>
            </a:r>
            <a:r>
              <a:rPr lang="en-IN" sz="2000" dirty="0" err="1"/>
              <a:t>cells,pc</a:t>
            </a:r>
            <a:r>
              <a:rPr lang="en-IN" sz="2000" dirty="0"/>
              <a:t> (object): Pus cell,pcc (object): Pus cell </a:t>
            </a:r>
            <a:r>
              <a:rPr lang="en-IN" sz="2000" dirty="0" err="1"/>
              <a:t>clumps,ba</a:t>
            </a:r>
            <a:r>
              <a:rPr lang="en-IN" sz="2000" dirty="0"/>
              <a:t> (object): </a:t>
            </a:r>
            <a:r>
              <a:rPr lang="en-IN" sz="2000" dirty="0" err="1"/>
              <a:t>Bacteria,pcv</a:t>
            </a:r>
            <a:r>
              <a:rPr lang="en-IN" sz="2000" dirty="0"/>
              <a:t> (object): Packed cell </a:t>
            </a:r>
            <a:r>
              <a:rPr lang="en-IN" sz="2000" dirty="0" err="1"/>
              <a:t>volume,wc</a:t>
            </a:r>
            <a:r>
              <a:rPr lang="en-IN" sz="2000" dirty="0"/>
              <a:t> (object): White blood cell count,rc (object): Red blood cell count,htn (object): </a:t>
            </a:r>
            <a:r>
              <a:rPr lang="en-IN" sz="2000" dirty="0" err="1"/>
              <a:t>Hypertension,dm</a:t>
            </a:r>
            <a:r>
              <a:rPr lang="en-IN" sz="2000" dirty="0"/>
              <a:t> (object): Diabetes mellitus,cad (object): Coronary artery </a:t>
            </a:r>
            <a:r>
              <a:rPr lang="en-IN" sz="2000" dirty="0" err="1"/>
              <a:t>disease,appet</a:t>
            </a:r>
            <a:r>
              <a:rPr lang="en-IN" sz="2000" dirty="0"/>
              <a:t> (object): Appetite,pe (object): Pedal </a:t>
            </a:r>
            <a:r>
              <a:rPr lang="en-IN" sz="2000" dirty="0" err="1"/>
              <a:t>edema,ane</a:t>
            </a:r>
            <a:r>
              <a:rPr lang="en-IN" sz="2000" dirty="0"/>
              <a:t> (object): </a:t>
            </a:r>
            <a:r>
              <a:rPr lang="en-IN" sz="2000" dirty="0" err="1"/>
              <a:t>Anemia</a:t>
            </a:r>
            <a:r>
              <a:rPr lang="en-IN" sz="2000" dirty="0"/>
              <a:t>,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IN" sz="2000" dirty="0"/>
              <a:t>classification (object): Classification (the target variable).</a:t>
            </a:r>
          </a:p>
        </p:txBody>
      </p:sp>
    </p:spTree>
    <p:extLst>
      <p:ext uri="{BB962C8B-B14F-4D97-AF65-F5344CB8AC3E}">
        <p14:creationId xmlns:p14="http://schemas.microsoft.com/office/powerpoint/2010/main" val="109504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RESULTS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8A5F9A5-99C1-B32F-0F4D-C8213D5AED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0" t="34727" r="33513" b="-546"/>
          <a:stretch/>
        </p:blipFill>
        <p:spPr bwMode="auto">
          <a:xfrm>
            <a:off x="781119" y="1675434"/>
            <a:ext cx="3641949" cy="20114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56E2C3-8AA6-D6BB-A191-B36E34FE62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94" t="32810" r="31606" b="-1961"/>
          <a:stretch/>
        </p:blipFill>
        <p:spPr>
          <a:xfrm>
            <a:off x="8498435" y="3929283"/>
            <a:ext cx="3403245" cy="2150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48C964-7E40-4F10-61EB-42B617E739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750" t="36209" r="18796" b="9614"/>
          <a:stretch/>
        </p:blipFill>
        <p:spPr>
          <a:xfrm>
            <a:off x="781119" y="3929283"/>
            <a:ext cx="3641949" cy="20798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DA1F8A-0175-DFE9-9C56-6FC6401C75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456" t="36080" r="26397" b="7058"/>
          <a:stretch/>
        </p:blipFill>
        <p:spPr>
          <a:xfrm>
            <a:off x="4721158" y="3929283"/>
            <a:ext cx="3479187" cy="20798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F65169-3BDC-A0BE-7AD1-662CD64291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309" t="43792" r="44559" b="14640"/>
          <a:stretch/>
        </p:blipFill>
        <p:spPr>
          <a:xfrm>
            <a:off x="8498435" y="1675433"/>
            <a:ext cx="3403245" cy="2011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D2BB28-5F87-A944-A649-7F125A97682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7722" t="28981" r="20476"/>
          <a:stretch/>
        </p:blipFill>
        <p:spPr>
          <a:xfrm>
            <a:off x="4721158" y="1675433"/>
            <a:ext cx="3503634" cy="201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0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Logistic Regression Model: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956159-56A4-8CC7-0EFF-E5E2E7EF75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76" t="22910" r="33750" b="2100"/>
          <a:stretch/>
        </p:blipFill>
        <p:spPr>
          <a:xfrm>
            <a:off x="894025" y="1525642"/>
            <a:ext cx="6714566" cy="4594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66A50E-2279-1919-D021-F0072D80CB02}"/>
              </a:ext>
            </a:extLst>
          </p:cNvPr>
          <p:cNvSpPr txBox="1"/>
          <p:nvPr/>
        </p:nvSpPr>
        <p:spPr>
          <a:xfrm>
            <a:off x="7805192" y="2489262"/>
            <a:ext cx="1772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87A6A2-1B17-8FA9-49CB-9ECF03399D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55" t="46731" r="38864" b="36028"/>
          <a:stretch/>
        </p:blipFill>
        <p:spPr>
          <a:xfrm>
            <a:off x="7897556" y="2832610"/>
            <a:ext cx="4165135" cy="11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0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Decision Tree Classifier Model: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59446DE-1615-AB9A-9AFB-C91FC4586B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29" t="27712" r="33824" b="5862"/>
          <a:stretch/>
        </p:blipFill>
        <p:spPr>
          <a:xfrm>
            <a:off x="821410" y="1488840"/>
            <a:ext cx="6723529" cy="4555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74BB8A-2E34-612B-030F-258007AE1A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00" t="58146" r="45682" b="24040"/>
          <a:stretch/>
        </p:blipFill>
        <p:spPr>
          <a:xfrm>
            <a:off x="7790761" y="2949917"/>
            <a:ext cx="3879273" cy="12216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771630-B554-8E4D-42D9-22D501BEF3EC}"/>
              </a:ext>
            </a:extLst>
          </p:cNvPr>
          <p:cNvSpPr txBox="1"/>
          <p:nvPr/>
        </p:nvSpPr>
        <p:spPr>
          <a:xfrm>
            <a:off x="7790761" y="2580585"/>
            <a:ext cx="181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99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KNN Model: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40E1682-3C02-3A93-6829-4A662036D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15" t="22726" r="34338" b="11864"/>
          <a:stretch/>
        </p:blipFill>
        <p:spPr>
          <a:xfrm>
            <a:off x="821410" y="1558584"/>
            <a:ext cx="6723529" cy="4485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BAF7B-C0EA-882E-D6E5-D57A93F07439}"/>
              </a:ext>
            </a:extLst>
          </p:cNvPr>
          <p:cNvSpPr txBox="1"/>
          <p:nvPr/>
        </p:nvSpPr>
        <p:spPr>
          <a:xfrm>
            <a:off x="7668925" y="2489262"/>
            <a:ext cx="2010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Validation: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64E6C0-7D1F-EFC4-9A8C-BBBC816288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18" t="32905" r="45736" b="54529"/>
          <a:stretch/>
        </p:blipFill>
        <p:spPr>
          <a:xfrm>
            <a:off x="7778920" y="2858594"/>
            <a:ext cx="3955880" cy="861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D4E630-478E-4D1E-B6C8-20F17EE1AE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94" t="90184" r="47794" b="3007"/>
          <a:stretch/>
        </p:blipFill>
        <p:spPr>
          <a:xfrm>
            <a:off x="7778920" y="3736296"/>
            <a:ext cx="3955880" cy="4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3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Random Forest Model: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304814A-1536-4657-AF44-65D6D211A8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12" t="36340" r="18796" b="32680"/>
          <a:stretch/>
        </p:blipFill>
        <p:spPr>
          <a:xfrm>
            <a:off x="821410" y="1675435"/>
            <a:ext cx="7168045" cy="2912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ACCAEF-FB92-75B2-876C-E9586190258A}"/>
              </a:ext>
            </a:extLst>
          </p:cNvPr>
          <p:cNvSpPr txBox="1"/>
          <p:nvPr/>
        </p:nvSpPr>
        <p:spPr>
          <a:xfrm>
            <a:off x="8240974" y="2312505"/>
            <a:ext cx="1798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Validation: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B38076-5A46-9D3A-0368-938F0FB3A3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03" t="36633" r="45909" b="52087"/>
          <a:stretch/>
        </p:blipFill>
        <p:spPr>
          <a:xfrm>
            <a:off x="8240974" y="2785636"/>
            <a:ext cx="3729354" cy="7735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B53048-465D-2340-95A9-220216CED6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51" t="85791" r="48183" b="8885"/>
          <a:stretch/>
        </p:blipFill>
        <p:spPr>
          <a:xfrm>
            <a:off x="8240974" y="3567722"/>
            <a:ext cx="3729354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6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27673-576E-CDBD-6894-D5994EAF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15856" y="6456017"/>
            <a:ext cx="4822804" cy="365125"/>
          </a:xfrm>
        </p:spPr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0079-B9FF-3ED5-E664-4C832A0B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424" y="813661"/>
            <a:ext cx="109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Model Comparison</a:t>
            </a:r>
          </a:p>
          <a:p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21410" y="1394847"/>
            <a:ext cx="10484603" cy="23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36C5F64-D2D6-B119-5C6E-49BA0835F0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t="28909" r="17871" b="14163"/>
          <a:stretch/>
        </p:blipFill>
        <p:spPr bwMode="auto">
          <a:xfrm>
            <a:off x="2025751" y="1540630"/>
            <a:ext cx="5970494" cy="35608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FEC1C3-B8AD-1A86-4119-AFC4ED508359}"/>
              </a:ext>
            </a:extLst>
          </p:cNvPr>
          <p:cNvSpPr txBox="1"/>
          <p:nvPr/>
        </p:nvSpPr>
        <p:spPr>
          <a:xfrm>
            <a:off x="8480612" y="2444051"/>
            <a:ext cx="3189612" cy="1969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346075" algn="l"/>
                <a:tab pos="2865755" algn="ctr"/>
              </a:tabLst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Accuracies:-</a:t>
            </a:r>
            <a:endParaRPr lang="en-IN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346075" algn="l"/>
                <a:tab pos="2865755" algn="ctr"/>
              </a:tabLst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Logistic Regression=99%</a:t>
            </a:r>
            <a:endParaRPr lang="en-IN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346075" algn="l"/>
                <a:tab pos="2865755" algn="ctr"/>
              </a:tabLst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Decision Tree Classifier=98%</a:t>
            </a:r>
            <a:endParaRPr lang="en-IN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346075" algn="l"/>
                <a:tab pos="2865755" algn="ctr"/>
              </a:tabLst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KNN=99%</a:t>
            </a:r>
            <a:endParaRPr lang="en-IN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346075" algn="l"/>
                <a:tab pos="2865755" algn="ctr"/>
              </a:tabLst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Random Forest=99</a:t>
            </a:r>
            <a:endParaRPr lang="en-IN" sz="16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60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E616-12E7-0867-C7DF-10D13D36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F0EE0-DCE8-D103-19E1-27E17907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8ED8C-BA45-B3E1-0ECA-C09693ED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829CA-201F-1CB8-B523-8D26B15D056B}"/>
              </a:ext>
            </a:extLst>
          </p:cNvPr>
          <p:cNvSpPr txBox="1"/>
          <p:nvPr/>
        </p:nvSpPr>
        <p:spPr>
          <a:xfrm>
            <a:off x="1097279" y="1985247"/>
            <a:ext cx="10058399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Conclusion, Tackling Chronic Kidney Disease (CKD) is vital due to its global impact on health, with a significant increase in cases affecting a substantial portion of the population. Early detection is paramount, offering the opportunity for effective treatment and control. This project's aim to develop a straightforward predictive model using accessible parameters underscores a commitment to making a meaningful contribution to healthcare. By identifying key factors influencing CKD risk through approaches like logistic regression, decision tree classifier, and k-nearest neighbors, we hope to provide healthcare professionals with valuable insights. Ultimately, this comprehensive strategy empowers timely interventions, offering a promising avenue to enhance patient outcomes and address the critical challenge of CKD early detection on a broader scale.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148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E616-12E7-0867-C7DF-10D13D36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PREFERENCES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F0EE0-DCE8-D103-19E1-27E17907F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 DATA ANALYTICS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8ED8C-BA45-B3E1-0ECA-C09693ED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829CA-201F-1CB8-B523-8D26B15D056B}"/>
              </a:ext>
            </a:extLst>
          </p:cNvPr>
          <p:cNvSpPr txBox="1"/>
          <p:nvPr/>
        </p:nvSpPr>
        <p:spPr>
          <a:xfrm>
            <a:off x="1097281" y="1821026"/>
            <a:ext cx="947210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Software and Packages:-</a:t>
            </a: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Scikit-learn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https://scikit-learn.org/stable/documentation.html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NumPy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https://numpy.org/doc/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Pandas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https://pandas.pydata.org/docs/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Matplotlib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https://matplotlib.org/stable/contents.html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Seaborn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https://seaborn.pydata.org/tutorial.html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Missingno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chemeClr val="tx1">
                    <a:lumMod val="95000"/>
                  </a:schemeClr>
                </a:solidFill>
                <a:effectLst/>
                <a:latin typeface="Söh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https://github.com/ResidentMario/missingno</a:t>
            </a:r>
            <a:endParaRPr lang="fr-FR" b="0" i="0" u="none" strike="noStrike" dirty="0">
              <a:solidFill>
                <a:schemeClr val="tx1">
                  <a:lumMod val="95000"/>
                </a:schemeClr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KNeighborsClassifier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https://scikit-learn.org/stable/modules/generated/sklearn.neighbors.KNeighborsClassifier.html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LogisticRegression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solidFill>
                  <a:srgbClr val="ECECEC"/>
                </a:solidFill>
                <a:effectLst/>
                <a:latin typeface="Söhne"/>
              </a:rPr>
              <a:t>https://scikit-learn.org/stable/modules/generated/sklearn.linear_model.LogisticRegression.html</a:t>
            </a:r>
            <a:endParaRPr lang="fr-FR" b="0" i="0" dirty="0">
              <a:solidFill>
                <a:srgbClr val="ECECEC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DecisionTreeClassifier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Documentation. </a:t>
            </a:r>
            <a:r>
              <a:rPr lang="fr-FR" b="0" i="0" dirty="0" err="1">
                <a:solidFill>
                  <a:srgbClr val="ECECEC"/>
                </a:solidFill>
                <a:effectLst/>
                <a:latin typeface="Söhne"/>
              </a:rPr>
              <a:t>Available</a:t>
            </a:r>
            <a:r>
              <a:rPr lang="fr-FR" b="0" i="0" dirty="0">
                <a:solidFill>
                  <a:srgbClr val="ECECEC"/>
                </a:solidFill>
                <a:effectLst/>
                <a:latin typeface="Söhne"/>
              </a:rPr>
              <a:t> at: </a:t>
            </a:r>
            <a:r>
              <a:rPr lang="fr-FR" b="0" i="0" u="none" strike="noStrike" dirty="0">
                <a:effectLst/>
                <a:latin typeface="Sö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https://scikit-learn.org/stable/modules/generated/sklearn.tree.DecisionTreeClassifier.html</a:t>
            </a:r>
            <a:endParaRPr lang="fr-FR" b="0" i="0" u="none" strike="noStrike" dirty="0">
              <a:effectLst/>
              <a:latin typeface="Söhne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dirty="0" err="1">
                <a:latin typeface="Söhne"/>
              </a:rPr>
              <a:t>Dataset</a:t>
            </a:r>
            <a:r>
              <a:rPr lang="fr-FR" dirty="0">
                <a:latin typeface="Söhne"/>
              </a:rPr>
              <a:t> </a:t>
            </a:r>
            <a:r>
              <a:rPr lang="fr-FR" dirty="0" err="1">
                <a:latin typeface="Söhne"/>
              </a:rPr>
              <a:t>taken</a:t>
            </a:r>
            <a:r>
              <a:rPr lang="fr-FR" dirty="0">
                <a:latin typeface="Söhne"/>
              </a:rPr>
              <a:t> </a:t>
            </a:r>
            <a:r>
              <a:rPr lang="fr-FR" dirty="0" err="1">
                <a:latin typeface="Söhne"/>
              </a:rPr>
              <a:t>from</a:t>
            </a:r>
            <a:r>
              <a:rPr lang="fr-FR" dirty="0">
                <a:latin typeface="Söhne"/>
              </a:rPr>
              <a:t> </a:t>
            </a:r>
            <a:r>
              <a:rPr lang="en-US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://www.kaggle.com/datasets/mansoordaku/ckdisease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5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9218DC-457A-E666-2CB8-BAB3E569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CHRONIC KIDNEY DISEASE PREDICTION USINGDATA ANALYTICS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73950-7715-DF21-E196-943E3280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F2999-EDC2-3F6C-BDF6-19A5106DF772}"/>
              </a:ext>
            </a:extLst>
          </p:cNvPr>
          <p:cNvSpPr txBox="1"/>
          <p:nvPr/>
        </p:nvSpPr>
        <p:spPr>
          <a:xfrm>
            <a:off x="2303929" y="2178423"/>
            <a:ext cx="1036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k Free" panose="03080402000500000000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68266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2641</TotalTime>
  <Words>1007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Calibri Light</vt:lpstr>
      <vt:lpstr>Ink Free</vt:lpstr>
      <vt:lpstr>Söhne</vt:lpstr>
      <vt:lpstr>Times New Roman</vt:lpstr>
      <vt:lpstr>Wingdings</vt:lpstr>
      <vt:lpstr>Retrospect</vt:lpstr>
      <vt:lpstr>Comparative Analysis of Chronic Kidney  Disease Prediction Batch-08 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KIDNEY DISEASE PREDICTION USING MACHINE LEARNING</dc:title>
  <dc:creator>Shiva Prasanth</dc:creator>
  <cp:lastModifiedBy>DATTU RAGHUNANDAN</cp:lastModifiedBy>
  <cp:revision>17</cp:revision>
  <dcterms:created xsi:type="dcterms:W3CDTF">2022-11-13T01:56:38Z</dcterms:created>
  <dcterms:modified xsi:type="dcterms:W3CDTF">2026-10-08T19:59:51Z</dcterms:modified>
</cp:coreProperties>
</file>